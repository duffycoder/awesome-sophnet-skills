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1371600"/>
            <a:ext cx="5486400" cy="54864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A896"/>
                </a:solidFill>
              </a:defRPr>
            </a:pPr>
            <a:r>
              <a:t>Introduction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64748B"/>
                </a:solidFill>
              </a:defRPr>
            </a:pPr>
            <a:r>
              <a:t>Understanding the Technology Shaping Our Future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206240"/>
            <a:ext cx="182880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What is AI?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F172A"/>
                </a:solidFill>
              </a:defRPr>
            </a:pPr>
            <a:r>
              <a:t>Artificial Intelligence is the simulation of human intelligence processes by machines, especially computer systems. It enables computers to learn, reason, perceive, and understand language.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329184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11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Improving from experience</a:t>
            </a:r>
          </a:p>
        </p:txBody>
      </p:sp>
      <p:sp>
        <p:nvSpPr>
          <p:cNvPr id="10" name="Oval 9"/>
          <p:cNvSpPr/>
          <p:nvPr/>
        </p:nvSpPr>
        <p:spPr>
          <a:xfrm>
            <a:off x="4663440" y="329184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291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2918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6118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Making logical decisions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66344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63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Perception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83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Understanding inputs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466344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4663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663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9834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Processing communication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Types of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5603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560320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Narrow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Designed for specific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090"/>
                </a:solidFill>
              </a:defRPr>
            </a:pPr>
            <a:r>
              <a:t>Examples: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2194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0F172A"/>
                </a:solidFill>
              </a:defRPr>
            </a:pPr>
            <a:r>
              <a:t>• Voice assistants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0F172A"/>
                </a:solidFill>
              </a:defRPr>
            </a:pPr>
            <a:r>
              <a:t>• Recommendation systems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0F172A"/>
                </a:solidFill>
              </a:defRPr>
            </a:pPr>
            <a:r>
              <a:t>• Image recognition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0188905200" y="1188720"/>
            <a:ext cx="25603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50188905200" y="1188720"/>
            <a:ext cx="2560320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50189088080" y="14173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0189088080" y="1783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Learns from data without explicit programming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0189088080" y="237744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A896"/>
                </a:solidFill>
              </a:defRPr>
            </a:pPr>
            <a:r>
              <a:t>Examples: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0189088080" y="2606040"/>
            <a:ext cx="2194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0F172A"/>
                </a:solidFill>
              </a:defRPr>
            </a:pPr>
            <a:r>
              <a:t>• Predictive analytics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0F172A"/>
                </a:solidFill>
              </a:defRPr>
            </a:pPr>
            <a:r>
              <a:t>• Spam filters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0F172A"/>
                </a:solidFill>
              </a:defRPr>
            </a:pPr>
            <a:r>
              <a:t>• Fraud detection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0377353200" y="1188720"/>
            <a:ext cx="25603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00377353200" y="1188720"/>
            <a:ext cx="2560320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0377536080" y="14173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Deep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0377536080" y="17830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Neural networks inspired by human brain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0377536080" y="2377440"/>
            <a:ext cx="2194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C39A"/>
                </a:solidFill>
              </a:defRPr>
            </a:pPr>
            <a:r>
              <a:t>Examples: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0377536080" y="2606040"/>
            <a:ext cx="2194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0F172A"/>
                </a:solidFill>
              </a:defRPr>
            </a:pPr>
            <a:r>
              <a:t>• Language models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0F172A"/>
                </a:solidFill>
              </a:defRPr>
            </a:pPr>
            <a:r>
              <a:t>• Computer vision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0F172A"/>
                </a:solidFill>
              </a:defRPr>
            </a:pPr>
            <a:r>
              <a:t>• Game playing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How AI Works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Data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Gathering relevant information</a:t>
            </a:r>
          </a:p>
        </p:txBody>
      </p:sp>
      <p:sp>
        <p:nvSpPr>
          <p:cNvPr id="8" name="Oval 7"/>
          <p:cNvSpPr/>
          <p:nvPr/>
        </p:nvSpPr>
        <p:spPr>
          <a:xfrm>
            <a:off x="1964899753200" y="118872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4899753200" y="11887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4899753200" y="19202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4899753200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Cleaning and preparing data</a:t>
            </a:r>
          </a:p>
        </p:txBody>
      </p:sp>
      <p:sp>
        <p:nvSpPr>
          <p:cNvPr id="12" name="Oval 11"/>
          <p:cNvSpPr/>
          <p:nvPr/>
        </p:nvSpPr>
        <p:spPr>
          <a:xfrm>
            <a:off x="3929799049200" y="118872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29799049200" y="11887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29799049200" y="19202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9799049200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Learning patterns from data</a:t>
            </a:r>
          </a:p>
        </p:txBody>
      </p:sp>
      <p:sp>
        <p:nvSpPr>
          <p:cNvPr id="16" name="Oval 15"/>
          <p:cNvSpPr/>
          <p:nvPr/>
        </p:nvSpPr>
        <p:spPr>
          <a:xfrm>
            <a:off x="5894698345200" y="118872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4698345200" y="11887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4698345200" y="192024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4698345200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</a:defRPr>
            </a:pPr>
            <a:r>
              <a:t>Making predictions or decisions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solidFill>
            <a:srgbClr val="028090">
              <a:lumMod val="80000"/>
              <a:lumOff val="20000"/>
            </a:srgbClr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Key Insight: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AI systems improve with more data and training time, enabling them to perform increasingly complex tasks with higher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172A"/>
                </a:solidFill>
              </a:defRPr>
            </a:pPr>
            <a:r>
              <a:t>AI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60604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25880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Healthcare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4748B"/>
                </a:solidFill>
              </a:defRPr>
            </a:pPr>
            <a:r>
              <a:t>• Disease diagnosis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4748B"/>
                </a:solidFill>
              </a:defRPr>
            </a:pPr>
            <a:r>
              <a:t>• Drug discovery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4748B"/>
                </a:solidFill>
              </a:defRPr>
            </a:pPr>
            <a:r>
              <a:t>• Personalized treatment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5608009200" y="1188720"/>
            <a:ext cx="260604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75608146360" y="132588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5608146360" y="1325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5608740720" y="1325880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5608192080" y="1874520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4748B"/>
                </a:solidFill>
              </a:defRPr>
            </a:pPr>
            <a:r>
              <a:t>• Fraud detection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4748B"/>
                </a:solidFill>
              </a:defRPr>
            </a:pPr>
            <a:r>
              <a:t>• Algorithmic trading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4748B"/>
                </a:solidFill>
              </a:defRPr>
            </a:pPr>
            <a:r>
              <a:t>• Risk assessment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39481380720"/>
            <a:ext cx="260604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183948151788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839481517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1839481517880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Transportation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839482066520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4748B"/>
                </a:solidFill>
              </a:defRPr>
            </a:pPr>
            <a:r>
              <a:t>• Autonomous vehicles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4748B"/>
                </a:solidFill>
              </a:defRPr>
            </a:pPr>
            <a:r>
              <a:t>• Route optimization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4748B"/>
                </a:solidFill>
              </a:defRPr>
            </a:pPr>
            <a:r>
              <a:t>• Traffic prediction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75608009200" y="1839481380720"/>
            <a:ext cx="260604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675608146360" y="183948151788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75608146360" y="1839481517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5608740720" y="1839481517880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Entertainment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5608192080" y="1839482066520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4748B"/>
                </a:solidFill>
              </a:defRPr>
            </a:pPr>
            <a:r>
              <a:t>• Content recommendation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4748B"/>
                </a:solidFill>
              </a:defRPr>
            </a:pPr>
            <a:r>
              <a:t>• Game AI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4748B"/>
                </a:solidFill>
              </a:defRPr>
            </a:pPr>
            <a:r>
              <a:t>• Creative generation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78961572720"/>
            <a:ext cx="260604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4360" y="367896170988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678961709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678961709880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Education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678962258520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4748B"/>
                </a:solidFill>
              </a:defRPr>
            </a:pPr>
            <a:r>
              <a:t>• Personalized learning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4748B"/>
                </a:solidFill>
              </a:defRPr>
            </a:pPr>
            <a:r>
              <a:t>• Tutoring systems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4748B"/>
                </a:solidFill>
              </a:defRPr>
            </a:pPr>
            <a:r>
              <a:t>• Automated grading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75608009200" y="3678961572720"/>
            <a:ext cx="2606040" cy="17373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675608146360" y="367896170988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75608146360" y="3678961709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75608740720" y="3678961709880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Business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75608192080" y="3678962258520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4748B"/>
                </a:solidFill>
              </a:defRPr>
            </a:pPr>
            <a:r>
              <a:t>• Customer service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4748B"/>
                </a:solidFill>
              </a:defRPr>
            </a:pPr>
            <a:r>
              <a:t>• Process automation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64748B"/>
                </a:solidFill>
              </a:defRPr>
            </a:pPr>
            <a:r>
              <a:t>• Predictive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02809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Future of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886200" cy="292608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886200" cy="91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Emerging 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5204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E2E8F0"/>
                </a:solidFill>
              </a:defRPr>
            </a:pPr>
            <a:r>
              <a:t>✓ Generative AI creating content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E2E8F0"/>
                </a:solidFill>
              </a:defRPr>
            </a:pPr>
            <a:r>
              <a:t>✓ AI-human collaboration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E2E8F0"/>
                </a:solidFill>
              </a:defRPr>
            </a:pPr>
            <a:r>
              <a:t>✓ Edge AI on devices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E2E8F0"/>
                </a:solidFill>
              </a:defRPr>
            </a:pPr>
            <a:r>
              <a:t>✓ Ethical AI development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1605417200" y="1188720"/>
            <a:ext cx="3886200" cy="292608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71605417200" y="1188720"/>
            <a:ext cx="3886200" cy="914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1605600080" y="1371600"/>
            <a:ext cx="3520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Considerations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1605600080" y="1737360"/>
            <a:ext cx="35204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E2E8F0"/>
                </a:solidFill>
              </a:defRPr>
            </a:pPr>
            <a:r>
              <a:t>✓ Privacy and data security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E2E8F0"/>
                </a:solidFill>
              </a:defRPr>
            </a:pPr>
            <a:r>
              <a:t>✓ Job market transformation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E2E8F0"/>
                </a:solidFill>
              </a:defRPr>
            </a:pPr>
            <a:r>
              <a:t>✓ Bias and fairness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>
                <a:solidFill>
                  <a:srgbClr val="E2E8F0"/>
                </a:solidFill>
              </a:defRPr>
            </a:pPr>
            <a:r>
              <a:t>✓ Regulation and 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4748B"/>
                </a:solidFill>
              </a:defRPr>
            </a:pPr>
            <a:r>
              <a:t>AI will continue transforming how we live and work, creating new opportunities while requiring thoughtful consideration of its impact.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2C39A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